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b2866b29784926" /><Relationship Type="http://schemas.openxmlformats.org/officeDocument/2006/relationships/extended-properties" Target="/docProps/app.xml" Id="R772c44649a6b4cd2" /><Relationship Type="http://schemas.openxmlformats.org/officeDocument/2006/relationships/officeDocument" Target="/ppt/presentation.xml" Id="R7e361122468042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f35cc8673e41e5"/>
  </p:sldMasterIdLst>
  <p:notesMasterIdLst>
    <p:notesMasterId xmlns:r="http://schemas.openxmlformats.org/officeDocument/2006/relationships" r:id="R749c2e4d7b004878"/>
  </p:notesMasterIdLst>
  <p:sldIdLst>
    <p:sldId xmlns:r="http://schemas.openxmlformats.org/officeDocument/2006/relationships" id="256" r:id="R785f36b78e35458d"/>
    <p:sldId xmlns:r="http://schemas.openxmlformats.org/officeDocument/2006/relationships" id="257" r:id="Re2bd6b7fe9f8499b"/>
    <p:sldId xmlns:r="http://schemas.openxmlformats.org/officeDocument/2006/relationships" id="258" r:id="R9616081952a442a3"/>
    <p:sldId xmlns:r="http://schemas.openxmlformats.org/officeDocument/2006/relationships" id="259" r:id="R54dfa1cf10374e5d"/>
    <p:sldId xmlns:r="http://schemas.openxmlformats.org/officeDocument/2006/relationships" id="260" r:id="R50116e79f87b4578"/>
    <p:sldId xmlns:r="http://schemas.openxmlformats.org/officeDocument/2006/relationships" id="261" r:id="R1fcdf0bae0f54094"/>
    <p:sldId xmlns:r="http://schemas.openxmlformats.org/officeDocument/2006/relationships" id="262" r:id="Rfc3a497688cb4838"/>
    <p:sldId xmlns:r="http://schemas.openxmlformats.org/officeDocument/2006/relationships" id="263" r:id="Ra2bb33145fa24a16"/>
    <p:sldId xmlns:r="http://schemas.openxmlformats.org/officeDocument/2006/relationships" id="264" r:id="Rfaf49deea65a4832"/>
    <p:sldId xmlns:r="http://schemas.openxmlformats.org/officeDocument/2006/relationships" id="265" r:id="R9a0df9a7c6f74c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f992924ff14c40" /><Relationship Type="http://schemas.openxmlformats.org/officeDocument/2006/relationships/slideMaster" Target="/ppt/slideMasters/slideMaster1.xml" Id="R3af35cc8673e41e5" /><Relationship Type="http://schemas.openxmlformats.org/officeDocument/2006/relationships/notesMaster" Target="/ppt/notesMasters/notesMaster1.xml" Id="R749c2e4d7b004878" /><Relationship Type="http://schemas.openxmlformats.org/officeDocument/2006/relationships/presProps" Target="/ppt/presProps.xml" Id="R9fa6a4365cc748ec" /><Relationship Type="http://schemas.openxmlformats.org/officeDocument/2006/relationships/tableStyles" Target="/ppt/tableStyles.xml" Id="R48e3b4068d034327" /><Relationship Type="http://schemas.openxmlformats.org/officeDocument/2006/relationships/slide" Target="/ppt/slides/slide1.xml" Id="R785f36b78e35458d" /><Relationship Type="http://schemas.openxmlformats.org/officeDocument/2006/relationships/slide" Target="/ppt/slides/slide2.xml" Id="Re2bd6b7fe9f8499b" /><Relationship Type="http://schemas.openxmlformats.org/officeDocument/2006/relationships/slide" Target="/ppt/slides/slide3.xml" Id="R9616081952a442a3" /><Relationship Type="http://schemas.openxmlformats.org/officeDocument/2006/relationships/slide" Target="/ppt/slides/slide4.xml" Id="R54dfa1cf10374e5d" /><Relationship Type="http://schemas.openxmlformats.org/officeDocument/2006/relationships/slide" Target="/ppt/slides/slide5.xml" Id="R50116e79f87b4578" /><Relationship Type="http://schemas.openxmlformats.org/officeDocument/2006/relationships/slide" Target="/ppt/slides/slide6.xml" Id="R1fcdf0bae0f54094" /><Relationship Type="http://schemas.openxmlformats.org/officeDocument/2006/relationships/slide" Target="/ppt/slides/slide7.xml" Id="Rfc3a497688cb4838" /><Relationship Type="http://schemas.openxmlformats.org/officeDocument/2006/relationships/slide" Target="/ppt/slides/slide8.xml" Id="Ra2bb33145fa24a16" /><Relationship Type="http://schemas.openxmlformats.org/officeDocument/2006/relationships/slide" Target="/ppt/slides/slide9.xml" Id="Rfaf49deea65a4832" /><Relationship Type="http://schemas.openxmlformats.org/officeDocument/2006/relationships/slide" Target="/ppt/slides/slide10.xml" Id="R9a0df9a7c6f74c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a208fe958b4d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6c44e7938c4ffe" /><Relationship Type="http://schemas.openxmlformats.org/officeDocument/2006/relationships/notesMaster" Target="/ppt/notesMasters/notesMaster1.xml" Id="R15e64e96d7f54a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3005b0573b416e" /><Relationship Type="http://schemas.openxmlformats.org/officeDocument/2006/relationships/notesMaster" Target="/ppt/notesMasters/notesMaster1.xml" Id="R0c70f10b12554b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cb238615384001" /><Relationship Type="http://schemas.openxmlformats.org/officeDocument/2006/relationships/notesMaster" Target="/ppt/notesMasters/notesMaster1.xml" Id="R677bafdd622942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5cbca86cfa493c" /><Relationship Type="http://schemas.openxmlformats.org/officeDocument/2006/relationships/notesMaster" Target="/ppt/notesMasters/notesMaster1.xml" Id="Rd57413ee6df747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f836833c504fa2" /><Relationship Type="http://schemas.openxmlformats.org/officeDocument/2006/relationships/notesMaster" Target="/ppt/notesMasters/notesMaster1.xml" Id="R00364dbbed584d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04665d093646d9" /><Relationship Type="http://schemas.openxmlformats.org/officeDocument/2006/relationships/notesMaster" Target="/ppt/notesMasters/notesMaster1.xml" Id="Rcfb51272d82143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515bcfef7b46ed" /><Relationship Type="http://schemas.openxmlformats.org/officeDocument/2006/relationships/notesMaster" Target="/ppt/notesMasters/notesMaster1.xml" Id="R661b7e92c86144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7f0c09984e4190" /><Relationship Type="http://schemas.openxmlformats.org/officeDocument/2006/relationships/notesMaster" Target="/ppt/notesMasters/notesMaster1.xml" Id="Rfd9c22aa577f49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a0b17504f84c20" /><Relationship Type="http://schemas.openxmlformats.org/officeDocument/2006/relationships/notesMaster" Target="/ppt/notesMasters/notesMaster1.xml" Id="R57792ec1e5e042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d0a295ba33482e" /><Relationship Type="http://schemas.openxmlformats.org/officeDocument/2006/relationships/notesMaster" Target="/ppt/notesMasters/notesMaster1.xml" Id="R36164a3caf9149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proyecto como un caso técnico integrado y anonimizado. No contiene coordenadas UTM, reservas ni datos económicos.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depuración: Au numérico, coordenadas completas y criterios de inclusión. El gráfico es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arquitectura evita depender de una sola herramienta. Cada software recibe una salida clara y trazable.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Destacar la cola alta y por qué la mediana es más robusta. Las leyes altas requieren verificación, no descarte automático.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figura es esquemática y anonimizada. Las labores alejadas siguen perteneciendo a la misma zona ALPACAY.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R² cercano a cero limita el uso predictivo. La validación espacial evita el optimismo producido por muestras vecinas en entrenamiento y prueba.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malla guía evita extrapolación amplia. Las conexiones de Deswik son líneas entre muestras, no labores diseñadas.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entregable incluye modelo de relaciones, medidas DAX, consultas Power Query, tema JSON y demostración HTML. El PBIX se ensambla en Power BI Desktop.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Evitar presentar el trabajo como estimación de recursos. El valor está en el proceso, la validación y la preparación reproducible.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el aporte personal y los entregables. Invitar a abrir el dashboard HTML y revisar el informe técnico.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15523a87746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4c24d3a92e4fed" /><Relationship Type="http://schemas.openxmlformats.org/officeDocument/2006/relationships/slideLayout" Target="/ppt/slideLayouts/slideLayout1.xml" Id="Re68d709357c74f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8d709357c74f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c50baad7c447b" /><Relationship Type="http://schemas.openxmlformats.org/officeDocument/2006/relationships/notesSlide" Target="/ppt/notesSlides/notesSlide1.xml" Id="R206a335538a64e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53d18010146bc" /><Relationship Type="http://schemas.openxmlformats.org/officeDocument/2006/relationships/chart" Target="/ppt/slides/charts/chart1.xml" Id="Re296c2ddc56a4448" /><Relationship Type="http://schemas.openxmlformats.org/officeDocument/2006/relationships/notesSlide" Target="/ppt/notesSlides/notesSlide2.xml" Id="Rdea0eab63eb047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02817a2d4496a" /><Relationship Type="http://schemas.openxmlformats.org/officeDocument/2006/relationships/notesSlide" Target="/ppt/notesSlides/notesSlide3.xml" Id="R42c7b9feea644f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8c7ba01e149da" /><Relationship Type="http://schemas.openxmlformats.org/officeDocument/2006/relationships/chart" Target="/ppt/slides/charts/chart2.xml" Id="Rb7a147a0382045b9" /><Relationship Type="http://schemas.openxmlformats.org/officeDocument/2006/relationships/notesSlide" Target="/ppt/notesSlides/notesSlide4.xml" Id="R252f4a20643847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d8c8f666a40c3" /><Relationship Type="http://schemas.openxmlformats.org/officeDocument/2006/relationships/notesSlide" Target="/ppt/notesSlides/notesSlide5.xml" Id="Rd1c43ebb34b545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bc3596b3f4714" /><Relationship Type="http://schemas.openxmlformats.org/officeDocument/2006/relationships/chart" Target="/ppt/slides/charts/chart3.xml" Id="R93c84f71d15a46d9" /><Relationship Type="http://schemas.openxmlformats.org/officeDocument/2006/relationships/notesSlide" Target="/ppt/notesSlides/notesSlide6.xml" Id="Ra20b41ccf9414f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dff845df4493a" /><Relationship Type="http://schemas.openxmlformats.org/officeDocument/2006/relationships/chart" Target="/ppt/slides/charts/chart4.xml" Id="R986998ee8cd044b1" /><Relationship Type="http://schemas.openxmlformats.org/officeDocument/2006/relationships/chart" Target="/ppt/slides/charts/chart5.xml" Id="Rf8ae1d967ff742e4" /><Relationship Type="http://schemas.openxmlformats.org/officeDocument/2006/relationships/notesSlide" Target="/ppt/notesSlides/notesSlide7.xml" Id="Rf6871535d42142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0e9fa14774fd3" /><Relationship Type="http://schemas.openxmlformats.org/officeDocument/2006/relationships/notesSlide" Target="/ppt/notesSlides/notesSlide8.xml" Id="R14b0840e536a4d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3a862e2814232" /><Relationship Type="http://schemas.openxmlformats.org/officeDocument/2006/relationships/notesSlide" Target="/ppt/notesSlides/notesSlide9.xml" Id="R9436566459754b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9bcdb692743b3" /><Relationship Type="http://schemas.openxmlformats.org/officeDocument/2006/relationships/notesSlide" Target="/ppt/notesSlides/notesSlide10.xml" Id="R2e4c93017a704c8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Cobertura progresiva de datos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F4F7F5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Registros</c:v>
          </c:tx>
          <c:spPr>
            <a:solidFill xmlns:a="http://schemas.openxmlformats.org/drawingml/2006/main">
              <a:srgbClr val="2FBF71"/>
            </a:solidFill>
          </c:spPr>
          <c:cat>
            <c:strRef>
              <c:f>'Chart Data'!$A$2:$A$5</c:f>
              <c:strCache>
                <c:ptCount val="4"/>
                <c:pt idx="0">
                  <c:v>Base</c:v>
                </c:pt>
                <c:pt idx="1">
                  <c:v>Au numérico</c:v>
                </c:pt>
                <c:pt idx="2">
                  <c:v>XYZ completo</c:v>
                </c:pt>
                <c:pt idx="3">
                  <c:v>Candidatos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1085</c:v>
                </c:pt>
                <c:pt idx="1">
                  <c:v>1018</c:v>
                </c:pt>
                <c:pt idx="2">
                  <c:v>353</c:v>
                </c:pt>
                <c:pt idx="3">
                  <c:v>331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5201F"/>
        </a:solidFill>
      </c:spPr>
    </c:plotArea>
    <c:plotVisOnly val="1"/>
  </c:chart>
  <c:spPr>
    <a:solidFill xmlns:a="http://schemas.openxmlformats.org/drawingml/2006/main">
      <a:srgbClr val="15201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Muestras por clase visual de Au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F4F7F5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Muestras</c:v>
          </c:tx>
          <c:spPr>
            <a:solidFill xmlns:a="http://schemas.openxmlformats.org/drawingml/2006/main">
              <a:srgbClr val="F2C14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FBF7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7A7D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2C14E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28C2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1495B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&lt;1</c:v>
                </c:pt>
                <c:pt idx="1">
                  <c:v>1–5</c:v>
                </c:pt>
                <c:pt idx="2">
                  <c:v>5–15</c:v>
                </c:pt>
                <c:pt idx="3">
                  <c:v>15–50</c:v>
                </c:pt>
                <c:pt idx="4">
                  <c:v>≥50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119</c:v>
                </c:pt>
                <c:pt idx="1">
                  <c:v>75</c:v>
                </c:pt>
                <c:pt idx="2">
                  <c:v>65</c:v>
                </c:pt>
                <c:pt idx="3">
                  <c:v>54</c:v>
                </c:pt>
                <c:pt idx="4">
                  <c:v>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5201F"/>
        </a:solidFill>
      </c:spPr>
    </c:plotArea>
    <c:plotVisOnly val="1"/>
  </c:chart>
  <c:spPr>
    <a:solidFill xmlns:a="http://schemas.openxmlformats.org/drawingml/2006/main">
      <a:srgbClr val="15201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Error de validación espacial (g/t)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F4F7F5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27A7D8"/>
            </a:solidFill>
          </c:spPr>
          <c:cat>
            <c:strRef>
              <c:f>'Chart Data'!$A$2:$A$4</c:f>
              <c:strCache>
                <c:ptCount val="3"/>
                <c:pt idx="0">
                  <c:v>Mediana</c:v>
                </c:pt>
                <c:pt idx="1">
                  <c:v>IDW bloques</c:v>
                </c:pt>
                <c:pt idx="2">
                  <c:v>RF espacial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11.969</c:v>
                </c:pt>
                <c:pt idx="1">
                  <c:v>13.919</c:v>
                </c:pt>
                <c:pt idx="2">
                  <c:v>13.056</c:v>
                </c:pt>
              </c:numCache>
            </c:numRef>
          </c:val>
        </c:ser>
        <c:ser>
          <c:idx val="1"/>
          <c:order val="1"/>
          <c:tx>
            <c:v>RMSE</c:v>
          </c:tx>
          <c:spPr>
            <a:solidFill xmlns:a="http://schemas.openxmlformats.org/drawingml/2006/main">
              <a:srgbClr val="F2C14E"/>
            </a:solidFill>
          </c:spPr>
          <c:cat>
            <c:strRef>
              <c:f>'Chart Data'!$C$2:$C$4</c:f>
              <c:strCache>
                <c:ptCount val="3"/>
                <c:pt idx="0">
                  <c:v>Mediana</c:v>
                </c:pt>
                <c:pt idx="1">
                  <c:v>IDW bloques</c:v>
                </c:pt>
                <c:pt idx="2">
                  <c:v>RF espacial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28.423</c:v>
                </c:pt>
                <c:pt idx="1">
                  <c:v>26.167</c:v>
                </c:pt>
                <c:pt idx="2">
                  <c:v>26.091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5201F"/>
        </a:solidFill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Bitstream Charter"/>
              <a:ea typeface="Bitstream Charter"/>
              <a:cs typeface="Bitstream Charter"/>
            </a:defRPr>
          </a:pPr>
        </a:p>
      </c:txPr>
    </c:legend>
    <c:plotVisOnly val="1"/>
  </c:chart>
  <c:spPr>
    <a:solidFill xmlns:a="http://schemas.openxmlformats.org/drawingml/2006/main">
      <a:srgbClr val="15201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Soporte de nodos para Leapfrog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F4F7F5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Nodos</c:v>
          </c:tx>
          <c:spPr>
            <a:solidFill xmlns:a="http://schemas.openxmlformats.org/drawingml/2006/main">
              <a:srgbClr val="2FBF71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F2C14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1423E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Cercanos</c:v>
                </c:pt>
                <c:pt idx="1">
                  <c:v>Limitados</c:v>
                </c:pt>
                <c:pt idx="2">
                  <c:v>Fuera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118</c:v>
                </c:pt>
                <c:pt idx="1">
                  <c:v>139</c:v>
                </c:pt>
                <c:pt idx="2">
                  <c:v>1514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5201F"/>
        </a:solidFill>
      </c:spPr>
    </c:plotArea>
    <c:plotVisOnly val="1"/>
  </c:chart>
  <c:spPr>
    <a:solidFill xmlns:a="http://schemas.openxmlformats.org/drawingml/2006/main">
      <a:srgbClr val="15201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Sensibilidad de longitud conectada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F4F7F5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 indicativos</c:v>
          </c:tx>
          <c:spPr>
            <a:solidFill xmlns:a="http://schemas.openxmlformats.org/drawingml/2006/main">
              <a:srgbClr val="27A7D8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15</c:v>
                </c:pt>
              </c:numCache>
            </c:num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491.06</c:v>
                </c:pt>
                <c:pt idx="1">
                  <c:v>395.19</c:v>
                </c:pt>
                <c:pt idx="2">
                  <c:v>343.91</c:v>
                </c:pt>
                <c:pt idx="3">
                  <c:v>171.19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Bitstream Charter"/>
                    <a:ea typeface="Bitstream Charter"/>
                    <a:cs typeface="Bitstream Charter"/>
                  </a:rPr>
                  <a:t>Umbral visual Au (g/t)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5201F"/>
        </a:solidFill>
      </c:spPr>
    </c:plotArea>
    <c:plotVisOnly val="1"/>
  </c:chart>
  <c:spPr>
    <a:solidFill xmlns:a="http://schemas.openxmlformats.org/drawingml/2006/main">
      <a:srgbClr val="15201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8EE59-D8FD-457B-8CA8-EC7DCAA4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316F9-9C6E-45D1-BF36-5B79D03A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1B4C2-E9C7-4BEC-BE48-AF191A7B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MINERÍA 4.0 · PORTAFOLIO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F9779-E766-4D21-B741-D6C47D9E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6810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Control y análisis</a:t>
            </a:r>
          </a:p>
          <a:p xmlns:a="http://schemas.openxmlformats.org/drawingml/2006/main">
            <a:pPr algn="l">
              <a:defRPr sz="37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de leyes de oro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E9863-0EB4-4360-8744-F78CA823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28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Flujo integrado para veta angosta: datos, espacio, modelamiento, planificación y visualización.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EC34E-D67F-46C8-95EF-FD316D40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92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0C8A9-242A-44E5-99F1-BB89A56E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EXCEL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E0DCF-5FD3-4A90-B59B-FBE68803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053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9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2ACA1-E362-4C2D-9146-667152B5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243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7A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27A7D8"/>
                </a:solidFill>
                <a:latin typeface="Bitstream Charter"/>
                <a:ea typeface="Bitstream Charter"/>
                <a:cs typeface="Bitstream Charter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3DCF2-72CF-4ECD-A054-576C0115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053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92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73C85-35BF-4A90-A548-87D1C1A1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243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rPr>
              <a:t>AUTOCAD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482C7-6860-4ACF-AE9B-8BB599E9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05300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92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7968A-2464-4207-A7AC-676102D0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24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LEAPFROG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3ADDD-7023-4CFD-AFEC-498270D0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053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92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06E4D-6FE0-4995-B498-055FC2DA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243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7A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27A7D8"/>
                </a:solidFill>
                <a:latin typeface="Bitstream Charter"/>
                <a:ea typeface="Bitstream Charter"/>
                <a:cs typeface="Bitstream Charter"/>
              </a:rPr>
              <a:t>DESWIK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3A681-216E-4164-8C5C-44FF14E1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609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Moises Ronaldo Casilla Gutierres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53F48-A2DC-460A-9EC4-A3433C41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Técnico en Operaciones Mineras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C90F2C-CB29-4B41-B105-1A524F89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rPr>
              <a:t>CASO ANONIMIZADO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C80FF-95F3-4195-AE66-B3E15544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288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4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AF463-EE89-410C-953E-B2BDE0DA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33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FASES CONECTADAS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A2E70-12F7-41F9-AE1E-98080115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76625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587E4-0D6F-49CE-A42C-E3A268D2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6237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0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Una sola zona analítica</a:t>
            </a:r>
          </a:p>
          <a:p xmlns:a="http://schemas.openxmlformats.org/drawingml/2006/main">
            <a:pPr algn="ctr">
              <a:defRPr sz="172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ALPACAY</a:t>
            </a:r>
          </a:p>
        </p:txBody>
      </p:sp>
    </p:spTree>
    <p:extLst>
      <p:ext uri="{BB962C8B-B14F-4D97-AF65-F5344CB8AC3E}">
        <p14:creationId xmlns:p14="http://schemas.microsoft.com/office/powerpoint/2010/main" val="21115500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B3B37-7F3E-49BA-B6A6-AB3D2447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01 · PUNTO DE 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46250-CC16-45F0-8301-B2B89A98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De 1,085 registros a una población espacial defendible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33523-D86D-486E-B13B-DEF13904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7445E-54E5-41BF-8BFB-2966DE36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67627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96c2ddc56a444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CA184-338C-4E29-A86D-0F61A6E9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335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3DD5A-D6E3-4774-AF8D-9F02D33F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6690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AU MEDIANA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74E5C-0878-4D22-A445-DD0AE8ED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85975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3.003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8814D-DA85-4AF8-9B38-8E5D3758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533650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g/t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A58C4-6DC4-4490-AC6D-724620C2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908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58A9B-BD1B-4A5B-B78C-25B81F0C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2420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P95 AU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DFEB2-0CAB-4D8D-92C4-87DDD0FE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343275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57.536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96C18-CAD9-47B4-AEE6-27BDF376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90950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g/t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A0517-14BB-4253-9D1F-F6885642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481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B0686-FA98-4C1D-9430-2D7BC544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38150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QA/QC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A341E-78C0-4F94-9F6F-2E8455EE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600575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36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FE444-B298-4B93-B6DA-A02D1B00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48250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registros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51A07-1B32-4C72-BEB6-DFE91529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5721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rPr>
              <a:t>La cobertura espacial —no la cantidad de leyes— es el principal límite del modelo.</a:t>
            </a:r>
          </a:p>
        </p:txBody>
      </p:sp>
    </p:spTree>
    <p:extLst>
      <p:ext uri="{BB962C8B-B14F-4D97-AF65-F5344CB8AC3E}">
        <p14:creationId xmlns:p14="http://schemas.microsoft.com/office/powerpoint/2010/main" val="1576556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4E9606-EEC7-4292-ACB9-95A29AF1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02 · 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EAB8C-FFCE-4504-856D-BBC75023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Un flujo reproducible entre análisis y software minero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B0672-136C-4D44-86CC-778953CE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67D0C-DD5C-4D6A-B671-DC1F266A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3E4EF-C020-48D7-BCAF-0340892A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2457450" cy="27622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D4A17-F83D-4703-A784-0ADA5A1A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2457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18645-6A7B-4845-9810-328FAAC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1–2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4F002-8955-4029-A3E7-11315140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0DB96-4EBB-4841-82E6-4F207332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Excel · 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9177D-5FF1-4814-8150-C074C443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076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Limpieza, QA/QC y modelo analítico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EEABB-F25F-44AD-9580-CA1C0C31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575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3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8560A-AF5F-4DEA-8C02-2F66F572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457450" cy="27622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E86DD-552F-4254-9E86-6127E798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457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5C614-7679-45E8-99E3-25D32C5F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098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A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7A7D8"/>
                </a:solidFill>
                <a:latin typeface="Bitstream Charter"/>
                <a:ea typeface="Bitstream Charter"/>
                <a:cs typeface="Bitstream Charter"/>
              </a:rPr>
              <a:t>3–5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35C3E-4C6F-48A4-829B-4D825C7C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1937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VALIDACIÓN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E448B-D7C5-46BC-A9F9-EE0A3BCB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432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ML · espacio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943381-59DA-4905-BC1B-F2A84DE1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14750"/>
            <a:ext cx="2076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Pruebas aleatoria y por bloques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145FC-F585-4BCE-81C6-409C9B4E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575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3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DEB15-A94F-4BC2-BC21-E1BDCF4A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457450" cy="27622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BC4AA3-68EA-4671-A040-69EE7A48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457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B249E-9C8A-4F28-B135-4D8156EA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rPr>
              <a:t>6–7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D75D9-54E6-4D8B-B128-15D88102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1937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GEOMETRÍA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4D846C-D0A3-40DD-AA85-57B7A152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Leapfrog · Deswik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D9B93-8F71-40FB-9731-000E900D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14750"/>
            <a:ext cx="2076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Malla guía y preplaneamiento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175A38-7D4C-43EB-9070-28B2A800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575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3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D94CFA-4B7D-4A4C-981B-4824BF03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952625"/>
            <a:ext cx="2457450" cy="27622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5E6B6E-019E-4F4D-9A76-4AD92199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952625"/>
            <a:ext cx="2457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1E839-2AD7-4B3A-8256-AA2EB0DF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2098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rPr>
              <a:t>8–10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148441-CFAA-4794-963C-49F82826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1937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COMUNICACIÓN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ED726C-FE08-4D5B-B3EB-16AB6CF7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1432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Power BI · informe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E35941-2A52-43B7-A6E3-E6F7DABA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714750"/>
            <a:ext cx="2076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Dashboard, evidencia y CV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A9D92F-8093-4C48-A10A-6B03F732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934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92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DC1146-6AD7-4F5C-9C9D-22D0C01C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CONTRATO DE INTERCAMBIO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555B04-666E-4996-94D1-2EB8A513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CSV + DXF + medidas DAX + documentación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9FEFE5-07B7-417F-8B3F-15BE4C97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863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rPr>
              <a:t>Salidas internas y públicas separadas desde el diseño</a:t>
            </a:r>
          </a:p>
        </p:txBody>
      </p:sp>
    </p:spTree>
    <p:extLst>
      <p:ext uri="{BB962C8B-B14F-4D97-AF65-F5344CB8AC3E}">
        <p14:creationId xmlns:p14="http://schemas.microsoft.com/office/powerpoint/2010/main" val="5535283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02581-E552-4874-8FDC-DC70CAB0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03 · ESTADÍSTICA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0CA17-5D57-4A3D-9CBD-DB7BACDA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La ley de Au es asimétrica: la mediana manda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AE092-6DEF-4978-B8DE-492F470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641F2-4C93-4ACF-939F-A1D30FF3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a147a0382045b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599C3-1AE4-4370-AD6F-74E53CCA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835B1-95DF-49B4-BD3C-A03CDCCE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MEDIA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CCC50-7E59-4BA9-BB7C-31F3CA5C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0502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12.745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DD483-94EE-48A5-9814-649051A5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g/t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7B1E3-319E-4BBB-946A-EEC6A7FB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F2348-7B08-4393-8522-826189D3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MEDIANA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63504-1701-492D-963C-DBD38301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6232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3.003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37FC4-D151-4DBB-9E3E-6072E59D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100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g/t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4861A-AE12-4A89-87F4-98D8F2D0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672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0CD87-7B13-480E-8297-2B7636E9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0055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MÁXIMO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E1C49-2BB7-4B72-9FD5-97F201C4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1962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235.710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75017-C16E-4A2B-865B-4ED53BA5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673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g/t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2C253-42BD-4B0B-93B6-0C950BBA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34 registros superan el umbral IQR de 32.280 g/t. Se marcan; no se eliminan automáticamente.</a:t>
            </a:r>
          </a:p>
        </p:txBody>
      </p:sp>
    </p:spTree>
    <p:extLst>
      <p:ext uri="{BB962C8B-B14F-4D97-AF65-F5344CB8AC3E}">
        <p14:creationId xmlns:p14="http://schemas.microsoft.com/office/powerpoint/2010/main" val="11744546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88CE568-9D3B-4DFF-BCCA-8E2D97A8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04 · ESPACIO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A1BC0-8FAF-4E0A-B1D4-034BAC74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Una sola zona, analizada con coordenadas relativas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1F566-2384-43D1-84BF-3387F4C5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E3A16-0A00-428C-B4C4-C75E11F9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D316B-CB2A-4B62-B689-89B5F02E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7239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D9C1A-7572-40FE-BDB4-44282F2C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542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3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AB78F-CB02-40BB-B247-B7C5B3F3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691DF-BA9B-46A6-B2FD-0532480C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708" y="2266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B5E56-4242-4778-9578-4595983C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917" y="2266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CD7CF-84A5-49BB-BA56-97ED7D00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25" y="2266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3A831-5D92-439F-9969-701A370E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333" y="2266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B681D-2792-42CF-94AB-D2FB9242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542" y="2266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9FD99-0B39-4845-97DC-C9722362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750" y="2266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9C9CD-438D-4480-A53E-C2609C95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958" y="2266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05A68-79F4-48CB-ADED-7AFDC184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167" y="2266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7FCA9-68F3-48A4-BBA0-621D5196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66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AF784-58B8-4A80-A3E9-9A0B8CBB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3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DBF5E-0653-4362-B5F4-775D5B55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90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A0262-655F-4780-8DB0-33C41B29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891" y="2790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269B0-6109-4D31-A436-EEF1C076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281" y="2790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79261-65A6-421D-9168-2A63A1EF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672" y="2790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E0252-8D7C-4818-B46E-88DB535F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2790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361E5-F4F7-48C0-B6DE-8F34090A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453" y="2790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2B50C-ED70-4B08-AB88-E81710D8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844" y="2790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7C4F2A-F127-4BC8-B054-1057E0E0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234" y="2790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A04DB0-6A6B-4478-915F-7C33B11B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90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1D76B9-D66B-4CA7-8734-B23545A5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619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3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9A05AA-60DC-4323-A504-BA59CEA9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623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D0DF39-8404-4030-B1AE-C7240BA3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339" y="33623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8B5FBA-64FB-44A1-9633-5F79C139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179" y="33623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A5CB35-A268-472E-A5F8-8CDCCD2B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018" y="33623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EE3A5B-9CC9-4BA6-BF8C-A9FE8FBE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857" y="33623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099146-9DA4-4367-B102-44EAC367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7696" y="33623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CDFA16-F914-485C-B2CE-5CB0FD1C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536" y="33623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D933A4-CD8E-44ED-91FC-E356B1B6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623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A29346-3016-4675-9709-5FF61F13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0050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3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6CC948-000C-464E-A271-3559166C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33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6E0F7B-9E1E-4DE9-BB79-4785DF47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688" y="3933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82BF04-978F-48B1-B45D-CC2DD2A3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33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C76FE9-5039-488D-B9E0-48CB137F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933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9419F4-6486-4D97-B5D5-086C8695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33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5A875D-CB69-430D-B957-7BB8D84A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38" y="3933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BC0538-2A24-42FD-B6AF-AB2B777A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9338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06AD7F-C7A3-4445-9286-239749A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3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DDD3FC-CFD0-4FB2-8DAE-0317F088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005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A16CDD-24B1-4400-96BA-8F96E6C3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6005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0CFA94-F452-4799-88F8-3512C68E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005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7E6826-5A75-4008-83FF-CAF3E3B9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6005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8477C0-4264-491E-B336-AED3BE9A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005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27740E-8A17-4FF2-BD38-095F7E07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005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0A6354-6C29-4A12-9ACA-FDF78CB0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908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74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rPr>
              <a:t>×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023AEC-14B0-4535-9017-22791710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338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74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rPr>
              <a:t>×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8CE7AD-7BEE-4EC2-B272-5D6FC4F4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00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74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rPr>
              <a:t>×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51A2DD-3BAC-406A-8A24-5DADD0AA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62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74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rPr>
              <a:t>×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6FD50E-81E3-4CDC-B460-467F4A7F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74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rPr>
              <a:t>×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40CCD4-12BF-4828-97FE-50BBAE18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911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Estación longitudinal 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F0F8F7-3580-443F-B8B1-3F40F9B7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43075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E18AE7-6310-42A2-9D07-F0276D5F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76425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MUESTRAS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8530A3-91D2-4960-BBC1-EDE02B92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331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7DC562-74DD-4EB8-B389-A304D6E0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43175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candidatas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6E7527-71FF-4D8E-AAC5-D85BBA39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C3878A5-91EF-4107-BFA0-815A1181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33725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OBJETIVOS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CA358B0-753E-47DE-846E-5900BFBD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528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29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C0FE1D-56AD-482C-9BDA-2D9B9D0C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00475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verificación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9325A96-457E-416E-B3F8-5A9EE804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57675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FF352A9-46AD-4D4B-A4ED-789761F9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91025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PRIORIDAD ALTA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06226C-FD4D-4659-8E4D-458A4A26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101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2BDFFB-5711-48E7-8805-B536A60F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57775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objetivos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53AD4E-81BF-4D96-B1C6-875E7DE0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rPr>
              <a:t>La transformación S–T–Z permite mostrar continuidad sin revelar coordenadas UTM.</a:t>
            </a:r>
          </a:p>
        </p:txBody>
      </p:sp>
    </p:spTree>
    <p:extLst>
      <p:ext uri="{BB962C8B-B14F-4D97-AF65-F5344CB8AC3E}">
        <p14:creationId xmlns:p14="http://schemas.microsoft.com/office/powerpoint/2010/main" val="16603947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B145F-03E0-4EC3-AB4D-A6C44298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05 · VALIDACIÓN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3BD7B-6CBF-4CE0-8F75-E7F93D22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El modelo encuentra señales, pero generaliza poco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8013F-7178-4168-B340-FE5BAF90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C493B-1E6D-4072-9C31-4AA93B92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c84f71d15a46d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55C90-2310-486C-86D1-4B4A997C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C33E0-AF7E-4B45-AF10-56850806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R² ESPACIAL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0CF1E-555B-44F8-AADD-D863E15B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669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8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rPr>
              <a:t>0.040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5C48D-700F-4B29-BAD2-A3B8CF8F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52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IDW por bloques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C3FDE-DB8E-4582-B4A0-B7F4C597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02314-8AE7-4A55-9663-C51A20C5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81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LECTURA CORRECTA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92F53-2357-4683-A3DA-7FB1F523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148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Control exploratorio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EB868-1E7E-484F-9553-781BF2AD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625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No usar para recursos, reservas ni decisiones económicas.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AA25E-F239-4A1E-80F1-C9839FD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rPr>
              <a:t>La prueba espacial es más exigente y más realista que una partición aleatoria.</a:t>
            </a:r>
          </a:p>
        </p:txBody>
      </p:sp>
    </p:spTree>
    <p:extLst>
      <p:ext uri="{BB962C8B-B14F-4D97-AF65-F5344CB8AC3E}">
        <p14:creationId xmlns:p14="http://schemas.microsoft.com/office/powerpoint/2010/main" val="1375821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522D4-6A79-45CB-9699-9FC4B607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06 · INTEGRACIÓN MINERA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53C53-1994-4DC1-A8E1-00C29CF5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Leapfrog guía; Deswik prepara requisitos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87EAB-F41F-4D56-A582-8B665294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95737-A958-4502-B2DF-A0F9BC01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57150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6998ee8cd044b1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0" y="1666875"/>
          <a:ext xmlns:a="http://schemas.openxmlformats.org/drawingml/2006/main" cx="485775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ae1d967ff742e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C29CE-8A89-4501-9C82-B02ADEFB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257 nodos con soporte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68D6D-D62E-4232-98A5-A9C322CC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531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7A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27A7D8"/>
                </a:solidFill>
                <a:latin typeface="Bitstream Charter"/>
                <a:ea typeface="Bitstream Charter"/>
                <a:cs typeface="Bitstream Charter"/>
              </a:rPr>
              <a:t>299 conexiones · 658.1 m indicativos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C105B-5582-44C2-9D61-3EDEAD67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rPr>
              <a:t>No son sólidos, reservas ni desarrollo minero.</a:t>
            </a:r>
          </a:p>
        </p:txBody>
      </p:sp>
    </p:spTree>
    <p:extLst>
      <p:ext uri="{BB962C8B-B14F-4D97-AF65-F5344CB8AC3E}">
        <p14:creationId xmlns:p14="http://schemas.microsoft.com/office/powerpoint/2010/main" val="9650834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DE483A8-B258-4D6A-8925-7A146E60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07 · FASE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9E49A-C965-4B0C-BA6B-B7ECA40E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Un dashboard para decidir qué revisar primero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B4CC6-011A-425D-85CE-32CCFBF9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56088-E242-4D82-A3C3-09B8C1C9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CC94A-744E-4D0F-8F50-71E3B7A3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1100137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B121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4FC45-BC33-4E5F-9D7F-7D684D49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ALPACAY | CONTROL DE LEYES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B33FD-37FC-48EF-AF46-3529EF90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1000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92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28A65-3E3A-4AF4-A317-730E995C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33550"/>
            <a:ext cx="80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Resumen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C235B-EE3E-44CA-BB92-91DD6F4C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14500"/>
            <a:ext cx="904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92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2D225-10A3-45DD-B03F-F5D70E5E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335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7A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27A7D8"/>
                </a:solidFill>
                <a:latin typeface="Bitstream Charter"/>
                <a:ea typeface="Bitstream Charter"/>
                <a:cs typeface="Bitstream Charter"/>
              </a:rPr>
              <a:t>Espacio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8C1A3-96E8-4FA3-8717-5350ECE9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714500"/>
            <a:ext cx="1000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92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E9B4C-34E3-410D-8398-28BCC58E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33550"/>
            <a:ext cx="80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rPr>
              <a:t>Validación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07A9F-073B-4CD2-9DF0-0D97E4D2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238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0A28E-2D2A-41DB-86EF-0D8BEAF4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71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MUESTRAS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C9982-DEA8-4885-8D0F-4BD7A7B8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71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331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6AD14-C86A-47CB-B38B-A53959C3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00300"/>
            <a:ext cx="95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EEDF3-1C6B-4A41-98A2-A49A3D42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66950"/>
            <a:ext cx="2238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BF5B1-A85F-4DE9-ACD2-86651FBA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71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MEDIANA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AD5CC-FBD8-4337-B205-1CE9D035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3.00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1D6EF-783E-46BE-A262-9A4DAE16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0300"/>
            <a:ext cx="95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9855F3-B715-430D-A6BE-48E09DFE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66950"/>
            <a:ext cx="2238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8DA38-68B7-47A3-8486-2B1664BA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71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OBJETIVOS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62522-5F67-42D2-B11F-88D84C0C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71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29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748E5-12F7-4886-8220-92400091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00300"/>
            <a:ext cx="95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2CE57B-AF17-4154-A69C-69C76B1C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66950"/>
            <a:ext cx="2238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78702F-35D4-4CB3-BE19-12AA79CF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71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NODOS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A5A002-CDDB-4A30-851A-236241B5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257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FB9C70-4957-42EF-8293-10141B92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00300"/>
            <a:ext cx="95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D8C45-5338-4F7A-AB35-7C5396AD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633412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B6C9EB-BCBC-4859-8EEC-4EA96D23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SECCIÓN LONGITUDINAL RELATIVA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D4ACFD-A4CB-45F8-BB1F-7B09C3EC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3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98FC9F-2BDC-43EB-9FFE-38E12706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67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A1CCDC-7AA1-473F-8300-08A9A3F8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C335A2-95C0-4D44-91D2-A8764CC0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7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E65AE7-6971-4658-930A-8ADC2F08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67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5D954B-2AE1-44F4-9E23-52A3B4E9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74CDF2-7A74-4C21-AB00-86E87B5F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75D068-C011-4D43-9AE3-C367496C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67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E03305-1282-43A8-A941-F06C328C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D2D4E3-5E01-41C6-9ECC-D73E7FD1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67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AB67AF-2C3E-4BB1-A5CC-4CCCC878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7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DF6B11-B12F-4582-9AC2-7986A8D6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461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3E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EF76C6-D130-42C4-ADDF-888E25AD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135775-605D-4919-AD1C-9CD9470F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EC5471-7FFB-4A92-8E9C-6205A3BD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1B9035-2212-4F65-8927-91FBC0F0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EB3751-FA6B-43F9-8562-256FD8E8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FABDBB-C3CC-478A-8A88-677D35A7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2BAC66-41BE-4FBB-867D-609F3FBD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F6455F-91EB-4CEE-8EEB-E5291848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CC4EF8-3E63-4FF5-A402-AC96631B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FD3B39-51CB-471E-86BF-270D71D5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390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3E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69CADB-15AB-4DD0-B258-F5032AB0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6BD164-4D95-414A-AF69-49339E0E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91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8C5C52-7A15-4D9A-AEEE-E5413C07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91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A10C48-7E01-4067-8125-797EDF33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91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642AC3-12C7-401C-AA90-D51121B6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91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ACF203-3A45-427E-A7DA-5DE2F0AB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91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378B9D-CF17-4605-BA2E-FF84F96C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359A58-1A25-4A84-9B8E-1F7FE708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91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46F76E-7708-4E38-8BFF-3BFD3C7F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3190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3E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92E81C-B3D2-4CA6-A27B-BE20249B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CA85C2-E762-4742-AD75-0B7BC186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38E94B-E105-4335-9A6F-D20E305D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C24754B-6AEE-4378-ACA2-383BCD38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151446-0C4B-4E38-AB86-2788F7AC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24966E-C97B-45CA-8667-62C4F286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8CED4B-43C1-4A43-A186-079D3495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E16867-A888-4E88-B199-AB9D0A1C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905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63B10D7-0C51-4551-9C2A-1DDCD2C0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76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CONTROL DE PRIORIZACIÓN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E315F76-DEDC-4F75-A8CE-21AC9178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Alta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272D854-0BBD-44DA-9D9E-87C6944E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10668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D02DE2E-BC92-41DF-8D33-8126A03E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481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3C3EC35-5489-495E-94D4-F2CC44F6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14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Media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03F7E4F-C9F6-41D3-B495-25892654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18288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FF14DDE-01DA-48C5-BE70-E1ED520C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3053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DC6A38D-6F42-47D9-8E69-C40AEF93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720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Revisión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1D0C763-65EF-41A3-B6D0-539F2E8C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00600"/>
            <a:ext cx="1524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A7D8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3444680-641A-47CC-8A4B-72A15080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762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8F5B9FF-FF16-4CAA-9069-43B638DA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98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5 páginas · filtros de labor y tramo · DAX · Power Query · tema JSON</a:t>
            </a:r>
          </a:p>
        </p:txBody>
      </p:sp>
    </p:spTree>
    <p:extLst>
      <p:ext uri="{BB962C8B-B14F-4D97-AF65-F5344CB8AC3E}">
        <p14:creationId xmlns:p14="http://schemas.microsoft.com/office/powerpoint/2010/main" val="217689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D896C-FDBE-4101-A902-272D4CB2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08 · CRITERIO PROFESIONAL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C8FEA-1EFC-4698-8D20-346FFB43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Lo que el proyecto demuestra —y lo que aún falta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2D1F2-07B5-4AB0-9E78-30CE3B1C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8BE84-D69B-470C-B2BB-D2F7A52B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51510-039B-4B21-B3D1-FFB1E1EC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95450"/>
            <a:ext cx="51911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5D459-98D0-43F5-9CAB-27C30FCC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1911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1007C-D13E-4D1E-AA16-07CD5637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DEMUESTRA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40E57-196D-4480-994D-84787FF5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476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• Limpieza y trazabilidad de datos</a:t>
            </a:r>
          </a:p>
          <a:p xmlns:a="http://schemas.openxmlformats.org/drawingml/2006/main">
            <a:pPr algn="l">
              <a:def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• QA/QC y estadística robusta</a:t>
            </a:r>
          </a:p>
          <a:p xmlns:a="http://schemas.openxmlformats.org/drawingml/2006/main">
            <a:pPr algn="l">
              <a:def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• Validación espacial por bloques</a:t>
            </a:r>
          </a:p>
          <a:p xmlns:a="http://schemas.openxmlformats.org/drawingml/2006/main">
            <a:pPr algn="l">
              <a:def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• Integración AutoCAD–Leapfrog–Deswik</a:t>
            </a:r>
          </a:p>
          <a:p xmlns:a="http://schemas.openxmlformats.org/drawingml/2006/main">
            <a:pPr algn="l">
              <a:def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• Diseño de modelo Power BI</a:t>
            </a:r>
          </a:p>
          <a:p xmlns:a="http://schemas.openxmlformats.org/drawingml/2006/main">
            <a:pPr algn="l">
              <a:def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• Comunicación técnica anonimizada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C0064-AE09-4F9D-B5F5-AED16E11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5262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rPr>
              <a:t>REQUIERE PARA AVANZAR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4990D-8B31-4E0A-B102-6815EAD1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57450"/>
            <a:ext cx="4476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• Plano base exportado a DXF</a:t>
            </a:r>
          </a:p>
          <a:p xmlns:a="http://schemas.openxmlformats.org/drawingml/2006/main">
            <a:pPr algn="l">
              <a:def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• Datum y zona UTM confirmados</a:t>
            </a:r>
          </a:p>
          <a:p xmlns:a="http://schemas.openxmlformats.org/drawingml/2006/main">
            <a:pPr algn="l">
              <a:def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• Geometría de veta y labores</a:t>
            </a:r>
          </a:p>
          <a:p xmlns:a="http://schemas.openxmlformats.org/drawingml/2006/main">
            <a:pPr algn="l">
              <a:def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• Densidad, recuperación y dilución</a:t>
            </a:r>
          </a:p>
          <a:p xmlns:a="http://schemas.openxmlformats.org/drawingml/2006/main">
            <a:pPr algn="l">
              <a:def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• Cut-off y restricciones geomecánicas</a:t>
            </a:r>
          </a:p>
          <a:p xmlns:a="http://schemas.openxmlformats.org/drawingml/2006/main">
            <a:pPr algn="l">
              <a:def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• Calendario y capacidad operacional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DDEEB-F01B-470D-9C62-B89633BC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953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292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391E3-06EB-40D1-8098-4261B22D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D1495B"/>
                </a:solidFill>
                <a:latin typeface="Bitstream Charter"/>
                <a:ea typeface="Bitstream Charter"/>
                <a:cs typeface="Bitstream Charter"/>
              </a:rPr>
              <a:t>La transparencia sobre límites también es una competencia profesional.</a:t>
            </a:r>
          </a:p>
        </p:txBody>
      </p:sp>
    </p:spTree>
    <p:extLst>
      <p:ext uri="{BB962C8B-B14F-4D97-AF65-F5344CB8AC3E}">
        <p14:creationId xmlns:p14="http://schemas.microsoft.com/office/powerpoint/2010/main" val="19574227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DDFF8A-74AB-4ED4-90AB-6842565B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09 · FASE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D2B68-866D-4197-B8D0-5C831020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Un proyecto listo para CV, entrevista y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86936-B1B6-4971-8006-9007E4C8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C1E95-6AE4-437B-8A1A-EBBA2A91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632BE-BE9C-4B8B-A738-A834BF75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APORTE PROFESIONAL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A55E8-5710-4471-ACAC-99949F42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Convertí una base minera compleja en un flujo reproducible, visual y verificable.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46795-4387-480F-AD04-1C636AED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619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F7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2C318-7277-4F7D-BB3D-39C2EB66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Excel · Python · Jupyter/Colab</a:t>
            </a:r>
          </a:p>
          <a:p xmlns:a="http://schemas.openxmlformats.org/drawingml/2006/main">
            <a:pPr algn="l">
              <a:defRPr sz="15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AutoCAD · Leapfrog Geo · Deswik · Power 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73842-4EEB-4EE2-B839-E397037C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Moises Ronaldo Casilla Gutierres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02C48-FAAD-45F1-A90F-1C95CA1A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Técnico en Operaciones Mineras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1705E-21E2-490C-AAA8-3DAA1090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5201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F92FC-39A8-4935-80EE-BC2DE3DA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9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2C14E"/>
                </a:solidFill>
                <a:latin typeface="Bitstream Charter"/>
                <a:ea typeface="Bitstream Charter"/>
                <a:cs typeface="Bitstream Charter"/>
              </a:rPr>
              <a:t>ENTREGABLES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0E3F0-3454-4BB9-880C-ED078047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4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0FA5C-982C-48A2-8864-B6D238D3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95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Dashboard interactivo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1C975-A80A-4008-A1E5-CEE387D2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D04B9-2D96-46AB-AA94-727736FE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90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Informe técnico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9BF26-130D-42B1-8636-55D95ACA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14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7A076-C593-4138-AD6D-C5EF66C2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Presentación editable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68E25-CED2-45B1-A3C0-F81B2F97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00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10695-5D94-4A32-8BCA-5E75249C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81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Datos públicos sanitizados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6F60E-B7E8-44C5-A705-04F17503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053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2FBF71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02B272-7CB0-4B66-80CC-CFD61CC2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76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4F7F5"/>
                </a:solidFill>
                <a:latin typeface="Bitstream Charter"/>
                <a:ea typeface="Bitstream Charter"/>
                <a:cs typeface="Bitstream Charter"/>
              </a:rPr>
              <a:t>Textos para CV y LinkedIn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76E6C-9705-4164-974F-3F954027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8B7B1"/>
                </a:solidFill>
                <a:latin typeface="Bitstream Charter"/>
                <a:ea typeface="Bitstream Charter"/>
                <a:cs typeface="Bitstream Charter"/>
              </a:rPr>
              <a:t>Caso ALPACAY anonimizado</a:t>
            </a:r>
          </a:p>
        </p:txBody>
      </p:sp>
    </p:spTree>
    <p:extLst>
      <p:ext uri="{BB962C8B-B14F-4D97-AF65-F5344CB8AC3E}">
        <p14:creationId xmlns:p14="http://schemas.microsoft.com/office/powerpoint/2010/main" val="201130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2026-09-15T04:55:25.0050000Z</dcterms:created>
  <dcterms:modified xsi:type="dcterms:W3CDTF">2026-09-15T04:55:25.0050000Z</dcterms:modified>
</coreProperties>
</file>